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frontend-production-fad4.up.railway.app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frontend-production-fad4.up.railway.app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108960" cy="3108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530352"/>
            <a:ext cx="120700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21792"/>
            <a:ext cx="1024128" cy="7406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993392" y="758952"/>
            <a:ext cx="2331720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66544" y="790956"/>
            <a:ext cx="2185415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22D3EE"/>
                </a:solidFill>
                <a:latin typeface="Aptos"/>
              </a:rPr>
              <a:t>TECHNOLOGY EXHIBITION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56231"/>
            <a:ext cx="7498079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INVENIA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70048"/>
            <a:ext cx="87782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BFD8FF"/>
                </a:solidFill>
                <a:latin typeface="Aptos Display"/>
              </a:rPr>
              <a:t>The intelligent recruitment and assessment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337560"/>
            <a:ext cx="78181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DCEAFF"/>
                </a:solidFill>
                <a:latin typeface="Aptos"/>
              </a:rPr>
              <a:t>From job design and CV intelligence to secure assessment, voice interview, evidence-grounded scoring, and recruiter decision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389888"/>
            <a:ext cx="2560320" cy="338328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95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64208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AFC8EF"/>
                </a:solidFill>
                <a:latin typeface="Aptos"/>
              </a:rPr>
              <a:t>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591056"/>
            <a:ext cx="73152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900" b="1">
                <a:solidFill>
                  <a:srgbClr val="22D3EE"/>
                </a:solidFill>
                <a:latin typeface="Aptos Display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98280" y="2048256"/>
            <a:ext cx="1984248" cy="0"/>
          </a:xfrm>
          <a:prstGeom prst="line">
            <a:avLst/>
          </a:prstGeom>
          <a:ln w="8890">
            <a:solidFill>
              <a:srgbClr val="295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98280" y="2414016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AFC8EF"/>
                </a:solidFill>
                <a:latin typeface="Aptos"/>
              </a:rPr>
              <a:t>APPLICATION STAGES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340864"/>
            <a:ext cx="73152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900" b="1">
                <a:solidFill>
                  <a:srgbClr val="10B981"/>
                </a:solidFill>
                <a:latin typeface="Aptos Display"/>
              </a:rPr>
              <a:t>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98280" y="2798064"/>
            <a:ext cx="1984248" cy="0"/>
          </a:xfrm>
          <a:prstGeom prst="line">
            <a:avLst/>
          </a:prstGeom>
          <a:ln w="8890">
            <a:solidFill>
              <a:srgbClr val="295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98280" y="3163824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AFC8EF"/>
                </a:solidFill>
                <a:latin typeface="Aptos"/>
              </a:rPr>
              <a:t>AI INTERVIEW TURNS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090672"/>
            <a:ext cx="73152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900" b="1">
                <a:solidFill>
                  <a:srgbClr val="F59E0B"/>
                </a:solidFill>
                <a:latin typeface="Aptos Display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3547872"/>
            <a:ext cx="1984248" cy="0"/>
          </a:xfrm>
          <a:prstGeom prst="line">
            <a:avLst/>
          </a:prstGeom>
          <a:ln w="8890">
            <a:solidFill>
              <a:srgbClr val="295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098280" y="3913632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AFC8EF"/>
                </a:solidFill>
                <a:latin typeface="Aptos"/>
              </a:rP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840480"/>
            <a:ext cx="73152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900" b="1">
                <a:solidFill>
                  <a:srgbClr val="3B82F6"/>
                </a:solidFill>
                <a:latin typeface="Aptos Display"/>
              </a:rP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788152"/>
            <a:ext cx="3931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Commercial product showcase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080760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FC8EF"/>
                </a:solidFill>
                <a:latin typeface="Aptos"/>
                <a:hlinkClick r:id="rId3"/>
              </a:rPr>
              <a:t>frontend-production-fad4.up.railway.app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244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FC8EF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AFC8E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554480"/>
            <a:ext cx="3840480" cy="3840480"/>
          </a:xfrm>
          <a:prstGeom prst="ellipse">
            <a:avLst/>
          </a:prstGeom>
          <a:solidFill>
            <a:srgbClr val="E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PRODUCT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A single decision layer for modern hiring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Invenia AI connects the candidate journey, recruiter workflow, assessments, media, and analytics in one governed platform.</a:t>
            </a:r>
          </a:p>
        </p:txBody>
      </p:sp>
      <p:pic>
        <p:nvPicPr>
          <p:cNvPr id="8" name="Picture 7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D8E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73936"/>
            <a:ext cx="6775704" cy="4306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cruiter-overview.png"/>
          <p:cNvPicPr>
            <a:picLocks noChangeAspect="1"/>
          </p:cNvPicPr>
          <p:nvPr/>
        </p:nvPicPr>
        <p:blipFill>
          <a:blip r:embed="rId3"/>
          <a:srcRect l="206" r="206"/>
          <a:stretch>
            <a:fillRect/>
          </a:stretch>
        </p:blipFill>
        <p:spPr>
          <a:xfrm>
            <a:off x="621792" y="1847088"/>
            <a:ext cx="6629400" cy="41605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571231" y="1847088"/>
            <a:ext cx="1874519" cy="9144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7536" y="1975104"/>
            <a:ext cx="1581911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2386584"/>
            <a:ext cx="158191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ROLE-SPECIFIC PORTALS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28632" y="1847088"/>
            <a:ext cx="1874519" cy="914400"/>
          </a:xfrm>
          <a:prstGeom prst="roundRect">
            <a:avLst/>
          </a:prstGeom>
          <a:solidFill>
            <a:srgbClr val="EAFBF4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975104"/>
            <a:ext cx="1581911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Aptos Display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4936" y="2386584"/>
            <a:ext cx="158191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APPLICATION STAGES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1231" y="2971800"/>
            <a:ext cx="1874519" cy="914400"/>
          </a:xfrm>
          <a:prstGeom prst="roundRect">
            <a:avLst/>
          </a:prstGeom>
          <a:solidFill>
            <a:srgbClr val="E8FB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536" y="3099816"/>
            <a:ext cx="1581911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D2D61"/>
                </a:solidFill>
                <a:latin typeface="Aptos Display"/>
              </a:rPr>
              <a:t>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7536" y="3511296"/>
            <a:ext cx="158191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BACKEND API ROUTES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28632" y="2971800"/>
            <a:ext cx="1874519" cy="91440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74936" y="3099816"/>
            <a:ext cx="1581911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Aptos Display"/>
              </a:rPr>
              <a:t>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4936" y="3511296"/>
            <a:ext cx="158191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RAILWAY DEPLOYMENT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71231" y="4169663"/>
            <a:ext cx="3931920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35823" y="4334255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35823" y="4352543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3" y="4334255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Product 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782312"/>
            <a:ext cx="3529584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Replace fragmented hiring tools with one evidence-driven workflow where every score is traceable to candidate evidence, enabled rounds, and recruiter-approved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108960" cy="3108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Hiring is fragmented, slow, and difficult to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C4D8F7"/>
                </a:solidFill>
                <a:latin typeface="Aptos"/>
              </a:rPr>
              <a:t>Enterprises often combine disconnected ATS, assessment, interview, file, and reporting tools - creating delays and weak decision traceability.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44784" y="173736"/>
            <a:ext cx="914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244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FC8EF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AFC8EF"/>
                </a:solidFill>
                <a:latin typeface="Aptos"/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3493008" cy="1536192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1" y="2039112"/>
            <a:ext cx="457200" cy="457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2057400"/>
            <a:ext cx="4572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039112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Manual screening overload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532887"/>
            <a:ext cx="3108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4D8F7"/>
                </a:solidFill>
                <a:latin typeface="Aptos"/>
              </a:rPr>
              <a:t>Recruiters compare CVs against complex job requirements by hand, creating inconsistent shortlists.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1874519"/>
            <a:ext cx="3493008" cy="1536192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26864" y="203911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2057400"/>
            <a:ext cx="4572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039112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Generic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2532887"/>
            <a:ext cx="3108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4D8F7"/>
                </a:solidFill>
                <a:latin typeface="Aptos"/>
              </a:rPr>
              <a:t>Keyword-only scores do not explain evidence, job context, or why one candidate outranks another.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4463" y="1874519"/>
            <a:ext cx="3493008" cy="1536192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49055" y="203911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5" y="2057400"/>
            <a:ext cx="4572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039112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Disconnected rounds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3" y="2532887"/>
            <a:ext cx="3108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4D8F7"/>
                </a:solidFill>
                <a:latin typeface="Aptos"/>
              </a:rPr>
              <a:t>Aptitude, technical, coding, and interviews live in separate products and data silos.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776472"/>
            <a:ext cx="3493008" cy="1536192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671" y="3941063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" y="3959351"/>
            <a:ext cx="4572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3941063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Interview integrity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434840"/>
            <a:ext cx="3108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4D8F7"/>
                </a:solidFill>
                <a:latin typeface="Aptos"/>
              </a:rPr>
              <a:t>Remote interviews require identity checks, camera evidence, transcripts, and auditable behavior signals.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62272" y="3776472"/>
            <a:ext cx="3493008" cy="1536192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26864" y="3941063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26864" y="3959351"/>
            <a:ext cx="4572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3941063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Poor recruiter visibility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4434840"/>
            <a:ext cx="3108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4D8F7"/>
                </a:solidFill>
                <a:latin typeface="Aptos"/>
              </a:rPr>
              <a:t>Decision makers need job-wise comparisons, recordings, reports, and exports in one place.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84463" y="3776472"/>
            <a:ext cx="3493008" cy="1536192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49055" y="3941063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49055" y="3959351"/>
            <a:ext cx="4572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34272" y="3941063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Candidate uncertainty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7343" y="4434840"/>
            <a:ext cx="3108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4D8F7"/>
                </a:solidFill>
                <a:latin typeface="Aptos"/>
              </a:rPr>
              <a:t>Applicants need clear status, stage gates, notifications, and transparent next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554480"/>
            <a:ext cx="3840480" cy="3840480"/>
          </a:xfrm>
          <a:prstGeom prst="ellipse">
            <a:avLst/>
          </a:prstGeom>
          <a:solidFill>
            <a:srgbClr val="E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PRODUCT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Designed around measurable hiring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implementation prioritizes decision quality, candidate clarity, assessment integrity, and operational speed.</a:t>
            </a:r>
          </a:p>
        </p:txBody>
      </p:sp>
      <p:pic>
        <p:nvPicPr>
          <p:cNvPr id="8" name="Picture 7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D8E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1874519"/>
            <a:ext cx="349300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6384" y="20391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057400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2039112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Unify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87168"/>
            <a:ext cx="3090672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One platform from authentication to final hiring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3983" y="1874519"/>
            <a:ext cx="349300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08575" y="203911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5" y="2057400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2039112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Automate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1" y="2487168"/>
            <a:ext cx="3090672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Structured job and profile extraction plus role-specific question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6175" y="1874519"/>
            <a:ext cx="349300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7" y="2039112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7" y="2057400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7" y="2039112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2487168"/>
            <a:ext cx="3090672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Evidence-grounded Job ATS with transparent mathematical components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3749039"/>
            <a:ext cx="349300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6384" y="3913631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3931919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3913631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361688"/>
            <a:ext cx="3090672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Recruiter approval gates, optional rounds, immutable decisions, account controls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3983" y="3749039"/>
            <a:ext cx="349300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08575" y="3913631"/>
            <a:ext cx="438912" cy="43891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08575" y="3931919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57216" y="3913631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Secure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1" y="4361688"/>
            <a:ext cx="3090672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Fullscreen monitoring, camera, mic test, snapshots, recording, and warnings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66175" y="3749039"/>
            <a:ext cx="349300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30767" y="3913631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7" y="3931919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7" y="3913631"/>
            <a:ext cx="26151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Compare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7344" y="4361688"/>
            <a:ext cx="3090672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Job-wise candidate ranking, detailed reports, filters, and exports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687568"/>
            <a:ext cx="10927080" cy="530352"/>
          </a:xfrm>
          <a:prstGeom prst="roundRect">
            <a:avLst/>
          </a:prstGeom>
          <a:solidFill>
            <a:srgbClr val="071B3D"/>
          </a:solidFill>
          <a:ln w="12700">
            <a:solidFill>
              <a:srgbClr val="07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" y="5687568"/>
            <a:ext cx="73152" cy="530352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797296"/>
            <a:ext cx="105156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Mono"/>
              </a:rPr>
              <a:t>SUCCESS = higher-quality evidence + faster screening + controlled assessments + explainable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108960" cy="3108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EXPERIENCE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Two portals. One synchronized hiring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C4D8F7"/>
                </a:solidFill>
                <a:latin typeface="Aptos"/>
              </a:rPr>
              <a:t>Candidates control their career journey while recruiters control screening, stage access, analysis, and final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44784" y="173736"/>
            <a:ext cx="914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244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FC8EF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AFC8EF"/>
                </a:solidFill>
                <a:latin typeface="Aptos"/>
              </a:rPr>
              <a:t>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828800"/>
            <a:ext cx="3063240" cy="379476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A5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2121408"/>
            <a:ext cx="713232" cy="71323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139696"/>
            <a:ext cx="713232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2157984"/>
            <a:ext cx="1508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Candidate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2560320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>
                <a:solidFill>
                  <a:srgbClr val="DCEAFF"/>
                </a:solidFill>
                <a:latin typeface="Aptos"/>
              </a:defRPr>
            </a:pPr>
            <a:r>
              <a:t>•  Profile and CV autofill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00">
                <a:solidFill>
                  <a:srgbClr val="DCEAFF"/>
                </a:solidFill>
                <a:latin typeface="Aptos"/>
              </a:defRPr>
            </a:pPr>
            <a:r>
              <a:t>•  Profile ATS and job-specific ATS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00">
                <a:solidFill>
                  <a:srgbClr val="DCEAFF"/>
                </a:solidFill>
                <a:latin typeface="Aptos"/>
              </a:defRPr>
            </a:pPr>
            <a:r>
              <a:t>•  Job search, save, apply, revoke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00">
                <a:solidFill>
                  <a:srgbClr val="DCEAFF"/>
                </a:solidFill>
                <a:latin typeface="Aptos"/>
              </a:defRPr>
            </a:pPr>
            <a:r>
              <a:t>•  Approval-gated assessment access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00">
                <a:solidFill>
                  <a:srgbClr val="DCEAFF"/>
                </a:solidFill>
                <a:latin typeface="Aptos"/>
              </a:defRPr>
            </a:pPr>
            <a:r>
              <a:t>•  Secure voice interview and status tracking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828800"/>
            <a:ext cx="3063240" cy="379476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A5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59952" y="2121408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9952" y="2139696"/>
            <a:ext cx="713232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157984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Recruiter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2880360"/>
            <a:ext cx="2542032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>
                <a:solidFill>
                  <a:srgbClr val="DCEAFF"/>
                </a:solidFill>
                <a:latin typeface="Aptos"/>
              </a:defRPr>
            </a:pPr>
            <a:r>
              <a:t>•  Smart job creation and stage rules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00">
                <a:solidFill>
                  <a:srgbClr val="DCEAFF"/>
                </a:solidFill>
                <a:latin typeface="Aptos"/>
              </a:defRPr>
            </a:pPr>
            <a:r>
              <a:t>•  Job-wise candidate comparison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00">
                <a:solidFill>
                  <a:srgbClr val="DCEAFF"/>
                </a:solidFill>
                <a:latin typeface="Aptos"/>
              </a:defRPr>
            </a:pPr>
            <a:r>
              <a:t>•  Approve, reject, activate, deactivate, delete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00">
                <a:solidFill>
                  <a:srgbClr val="DCEAFF"/>
                </a:solidFill>
                <a:latin typeface="Aptos"/>
              </a:defRPr>
            </a:pPr>
            <a:r>
              <a:t>•  Interview media, transcript, and reports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200">
                <a:solidFill>
                  <a:srgbClr val="DCEAFF"/>
                </a:solidFill>
                <a:latin typeface="Aptos"/>
              </a:defRPr>
            </a:pPr>
            <a:r>
              <a:t>•  Analytics, rankings, and spreadsheet exports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212848"/>
            <a:ext cx="3886200" cy="306324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523744"/>
            <a:ext cx="3154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2D3EE"/>
                </a:solidFill>
                <a:latin typeface="Aptos"/>
              </a:rPr>
              <a:t>SHARED INTELLIGENCE CORE</a:t>
            </a:r>
          </a:p>
        </p:txBody>
      </p:sp>
      <p:sp>
        <p:nvSpPr>
          <p:cNvPr id="25" name="Oval 24"/>
          <p:cNvSpPr/>
          <p:nvPr/>
        </p:nvSpPr>
        <p:spPr>
          <a:xfrm>
            <a:off x="4553712" y="3026663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2999232"/>
            <a:ext cx="2697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Identity + roles</a:t>
            </a:r>
          </a:p>
        </p:txBody>
      </p:sp>
      <p:sp>
        <p:nvSpPr>
          <p:cNvPr id="27" name="Oval 26"/>
          <p:cNvSpPr/>
          <p:nvPr/>
        </p:nvSpPr>
        <p:spPr>
          <a:xfrm>
            <a:off x="4553712" y="3428999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3401568"/>
            <a:ext cx="2697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Jobs + applications</a:t>
            </a:r>
          </a:p>
        </p:txBody>
      </p:sp>
      <p:sp>
        <p:nvSpPr>
          <p:cNvPr id="29" name="Oval 28"/>
          <p:cNvSpPr/>
          <p:nvPr/>
        </p:nvSpPr>
        <p:spPr>
          <a:xfrm>
            <a:off x="4553712" y="383133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2" y="3803904"/>
            <a:ext cx="2697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Workflow + scores</a:t>
            </a:r>
          </a:p>
        </p:txBody>
      </p:sp>
      <p:sp>
        <p:nvSpPr>
          <p:cNvPr id="31" name="Oval 30"/>
          <p:cNvSpPr/>
          <p:nvPr/>
        </p:nvSpPr>
        <p:spPr>
          <a:xfrm>
            <a:off x="4553712" y="4233672"/>
            <a:ext cx="164592" cy="16459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4206240"/>
            <a:ext cx="2697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Media + reports</a:t>
            </a:r>
          </a:p>
        </p:txBody>
      </p:sp>
      <p:sp>
        <p:nvSpPr>
          <p:cNvPr id="33" name="Oval 32"/>
          <p:cNvSpPr/>
          <p:nvPr/>
        </p:nvSpPr>
        <p:spPr>
          <a:xfrm>
            <a:off x="4553712" y="4636008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8032" y="4608576"/>
            <a:ext cx="2697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Analytics + exports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30752" y="3703320"/>
            <a:ext cx="429768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046720" y="3703320"/>
            <a:ext cx="41148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554480"/>
            <a:ext cx="3840480" cy="3840480"/>
          </a:xfrm>
          <a:prstGeom prst="ellipse">
            <a:avLst/>
          </a:prstGeom>
          <a:solidFill>
            <a:srgbClr val="E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END-TO-END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From job intent to recruiter-ready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Every transition is persisted, role-gated, and visible to the appropriate participant.</a:t>
            </a:r>
          </a:p>
        </p:txBody>
      </p:sp>
      <p:pic>
        <p:nvPicPr>
          <p:cNvPr id="8" name="Picture 7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D8E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1901952"/>
            <a:ext cx="349300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096" y="20848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103120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2057400"/>
            <a:ext cx="262432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ptos Display"/>
              </a:rPr>
              <a:t>Create 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496312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Autofill or manual details; configure optional and compulsory rounds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0" y="2450592"/>
            <a:ext cx="310896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62272" y="1901952"/>
            <a:ext cx="349300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08576" y="2084832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2103120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2057400"/>
            <a:ext cx="262432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ptos Display"/>
              </a:rPr>
              <a:t>Apply +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2496312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CV is compared against the exact job and sent for screening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79" y="2450592"/>
            <a:ext cx="310896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302752" y="1901952"/>
            <a:ext cx="349300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49056" y="208483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2103120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2057400"/>
            <a:ext cx="262432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ptos Display"/>
              </a:rPr>
              <a:t>Recruiter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2496312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Job-wise ranking supports an approve or reject decision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749039"/>
            <a:ext cx="349300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8096" y="3931920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950207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904487"/>
            <a:ext cx="262432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ptos Display"/>
              </a:rPr>
              <a:t>Assess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4343400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Only enabled aptitude, technical, and coding stages appear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14800" y="4297679"/>
            <a:ext cx="310896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462272" y="3749039"/>
            <a:ext cx="349300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608576" y="3931920"/>
            <a:ext cx="438912" cy="43891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08576" y="3950207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75504" y="3904487"/>
            <a:ext cx="262432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ptos Display"/>
              </a:rPr>
              <a:t>Interview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6864" y="4343400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Camera, mic test, fullscreen, three voice questions, recording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55279" y="4297679"/>
            <a:ext cx="310896" cy="0"/>
          </a:xfrm>
          <a:prstGeom prst="line">
            <a:avLst/>
          </a:prstGeom>
          <a:ln w="25400">
            <a:solidFill>
              <a:srgbClr val="F4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302752" y="3749039"/>
            <a:ext cx="349300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449056" y="393192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49056" y="3950207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15984" y="3904487"/>
            <a:ext cx="262432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ptos Display"/>
              </a:rPr>
              <a:t>Decide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67344" y="4343400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Final score, evidence, media, report, comparison, and export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687568"/>
            <a:ext cx="10899648" cy="512064"/>
          </a:xfrm>
          <a:prstGeom prst="roundRect">
            <a:avLst/>
          </a:prstGeom>
          <a:solidFill>
            <a:srgbClr val="071B3D"/>
          </a:solidFill>
          <a:ln w="12700">
            <a:solidFill>
              <a:srgbClr val="07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" y="5687568"/>
            <a:ext cx="73152" cy="51206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797296"/>
            <a:ext cx="1048816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Mono"/>
              </a:rPr>
              <a:t>Recruiter configuration controls the path. Candidate eligibility controls access. Persisted evidence controls the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554480"/>
            <a:ext cx="3840480" cy="3840480"/>
          </a:xfrm>
          <a:prstGeom prst="ellipse">
            <a:avLst/>
          </a:prstGeom>
          <a:solidFill>
            <a:srgbClr val="E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CANDIDATE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Clarity before, during, and after every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portal combines opportunity discovery, profile intelligence, CV access, status tracking, and assessment readiness.</a:t>
            </a:r>
          </a:p>
        </p:txBody>
      </p:sp>
      <p:pic>
        <p:nvPicPr>
          <p:cNvPr id="8" name="Picture 7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D8E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1700784"/>
            <a:ext cx="5678424" cy="3639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ndidate-jobs.png"/>
          <p:cNvPicPr>
            <a:picLocks noChangeAspect="1"/>
          </p:cNvPicPr>
          <p:nvPr/>
        </p:nvPicPr>
        <p:blipFill>
          <a:blip r:embed="rId3"/>
          <a:srcRect l="507" r="507"/>
          <a:stretch>
            <a:fillRect/>
          </a:stretch>
        </p:blipFill>
        <p:spPr>
          <a:xfrm>
            <a:off x="603504" y="1773936"/>
            <a:ext cx="5532120" cy="349300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54496" y="1700784"/>
            <a:ext cx="5404104" cy="3639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ndidate-profile.png"/>
          <p:cNvPicPr>
            <a:picLocks noChangeAspect="1"/>
          </p:cNvPicPr>
          <p:nvPr/>
        </p:nvPicPr>
        <p:blipFill>
          <a:blip r:embed="rId4"/>
          <a:srcRect l="2961" r="2961"/>
          <a:stretch>
            <a:fillRect/>
          </a:stretch>
        </p:blipFill>
        <p:spPr>
          <a:xfrm>
            <a:off x="6327648" y="1773936"/>
            <a:ext cx="5257800" cy="349300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58368" y="5504688"/>
            <a:ext cx="2359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5504688"/>
            <a:ext cx="64008" cy="6583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5586984"/>
            <a:ext cx="960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DISCOVER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797296"/>
            <a:ext cx="2011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Grid/list jobs, search, save, view, apply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5504688"/>
            <a:ext cx="2359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0" y="5504688"/>
            <a:ext cx="64008" cy="658368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3592" y="5586984"/>
            <a:ext cx="960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22D3EE"/>
                </a:solidFill>
                <a:latin typeface="Aptos"/>
              </a:rPr>
              <a:t>UNDERSTAND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5797296"/>
            <a:ext cx="2011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Profile strength, CV preview, ATS insights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5504688"/>
            <a:ext cx="2359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5504688"/>
            <a:ext cx="64008" cy="65836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5586984"/>
            <a:ext cx="960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7C3AED"/>
                </a:solidFill>
                <a:latin typeface="Aptos"/>
              </a:rPr>
              <a:t>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5797296"/>
            <a:ext cx="2011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Applied status, stage lock, next-round access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5504688"/>
            <a:ext cx="2359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0" y="5504688"/>
            <a:ext cx="64008" cy="658368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8592" y="5586984"/>
            <a:ext cx="960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  <a:latin typeface="Aptos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8592" y="5797296"/>
            <a:ext cx="2011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Revoke once, avoid duplicates, receive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108960" cy="3108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RECRUITER COMMAND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One view from workload to hiring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C4D8F7"/>
                </a:solidFill>
                <a:latin typeface="Aptos"/>
              </a:rPr>
              <a:t>Overview KPIs surface active jobs, total candidates, applications, interviews, hires, and time-to-hire alongside live pipeline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44784" y="173736"/>
            <a:ext cx="914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244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FC8EF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AFC8EF"/>
                </a:solidFill>
                <a:latin typeface="Aptos"/>
              </a:rPr>
              <a:t>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1709928"/>
            <a:ext cx="7735824" cy="4626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ruiter-overview.png"/>
          <p:cNvPicPr>
            <a:picLocks noChangeAspect="1"/>
          </p:cNvPicPr>
          <p:nvPr/>
        </p:nvPicPr>
        <p:blipFill>
          <a:blip r:embed="rId3"/>
          <a:srcRect t="2771" b="2771"/>
          <a:stretch>
            <a:fillRect/>
          </a:stretch>
        </p:blipFill>
        <p:spPr>
          <a:xfrm>
            <a:off x="685800" y="1783080"/>
            <a:ext cx="7589520" cy="44805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595360" y="1874519"/>
            <a:ext cx="2926080" cy="841248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59952" y="2057400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2075688"/>
            <a:ext cx="38404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011679"/>
            <a:ext cx="19568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Pipeline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286000"/>
            <a:ext cx="19385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C4D8F7"/>
                </a:solidFill>
                <a:latin typeface="Aptos"/>
              </a:rPr>
              <a:t>Recent applications and job demand in one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2926079"/>
            <a:ext cx="2926080" cy="841248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59952" y="310896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9952" y="3127248"/>
            <a:ext cx="38404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063239"/>
            <a:ext cx="19568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Job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337560"/>
            <a:ext cx="19385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C4D8F7"/>
                </a:solidFill>
                <a:latin typeface="Aptos"/>
              </a:rPr>
              <a:t>Create, edit, archive, export, and switch grid/list views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3977639"/>
            <a:ext cx="2926080" cy="841248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9952" y="41605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9952" y="4178807"/>
            <a:ext cx="38404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4114800"/>
            <a:ext cx="19568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Candidate 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4389120"/>
            <a:ext cx="19385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C4D8F7"/>
                </a:solidFill>
                <a:latin typeface="Aptos"/>
              </a:rPr>
              <a:t>Approve/reject decisions and account lifecycle controls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5029200"/>
            <a:ext cx="2926080" cy="841248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9952" y="521208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59952" y="5230368"/>
            <a:ext cx="38404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5166360"/>
            <a:ext cx="19568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Decision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5440680"/>
            <a:ext cx="19385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C4D8F7"/>
                </a:solidFill>
                <a:latin typeface="Aptos"/>
              </a:rPr>
              <a:t>Job ATS, final score, reports, recordings, comparisons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554480"/>
            <a:ext cx="3840480" cy="3840480"/>
          </a:xfrm>
          <a:prstGeom prst="ellipse">
            <a:avLst/>
          </a:prstGeom>
          <a:solidFill>
            <a:srgbClr val="E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FEATURE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Commercial capability across the full hiring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Implemented functions are organized as reusable product modules rather than isolated demos.</a:t>
            </a:r>
          </a:p>
        </p:txBody>
      </p:sp>
      <p:pic>
        <p:nvPicPr>
          <p:cNvPr id="8" name="Picture 7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D8E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83080"/>
            <a:ext cx="2606040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947672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929384"/>
            <a:ext cx="246888" cy="24688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313432"/>
            <a:ext cx="2212848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Candidate sign-up/login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Recruiter login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JWT role gates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Account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83080"/>
            <a:ext cx="2606040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1947672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PROFILE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5272" y="1929384"/>
            <a:ext cx="246888" cy="246888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2313432"/>
            <a:ext cx="2212848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CV upload/preview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Profile autofill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ATS readiness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Skills/preferences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1783080"/>
            <a:ext cx="2606040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947672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JOBS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67344" y="1929384"/>
            <a:ext cx="246888" cy="246888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313432"/>
            <a:ext cx="2212848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Smart autofill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Grid/list views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Currency/period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Views/applicants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53144" y="1783080"/>
            <a:ext cx="2606040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024" y="1947672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329416" y="1929384"/>
            <a:ext cx="246888" cy="24688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6024" y="2313432"/>
            <a:ext cx="2212848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Approval gate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Optional stages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Duplicate prevention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Application revoke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904487"/>
            <a:ext cx="2606040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069079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ASSESSMENT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4050791"/>
            <a:ext cx="246888" cy="24688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434840"/>
            <a:ext cx="2212848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5 aptitude MCQs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5 technical MCQs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2 coding prompts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Role-context generation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3904487"/>
            <a:ext cx="2606040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4069079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43F5E"/>
                </a:solidFill>
                <a:latin typeface="Aptos"/>
              </a:rPr>
              <a:t>INTERVIEW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05272" y="4050791"/>
            <a:ext cx="246888" cy="246888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11880" y="4434840"/>
            <a:ext cx="2212848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Face presence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10s mic test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3 voice questions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Recording + snapshot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3904487"/>
            <a:ext cx="2606040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4069079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ANALYTICS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67344" y="4050791"/>
            <a:ext cx="246888" cy="246888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4434840"/>
            <a:ext cx="2212848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Job-wise ranking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Detailed analysis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Performance reports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Top-N filters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53144" y="3904487"/>
            <a:ext cx="2606040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36024" y="4069079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2D61"/>
                </a:solidFill>
                <a:latin typeface="Aptos"/>
              </a:rPr>
              <a:t>OPERATIONS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29416" y="4050791"/>
            <a:ext cx="246888" cy="246888"/>
          </a:xfrm>
          <a:prstGeom prst="roundRect">
            <a:avLst/>
          </a:prstGeom>
          <a:solidFill>
            <a:srgbClr val="0D2D61"/>
          </a:solidFill>
          <a:ln w="12700">
            <a:solidFill>
              <a:srgbClr val="0D2D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36024" y="4434840"/>
            <a:ext cx="2212848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Excel/CSV export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CV one-click preview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Media download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50">
                <a:solidFill>
                  <a:srgbClr val="475569"/>
                </a:solidFill>
                <a:latin typeface="Aptos"/>
              </a:defRPr>
            </a:pPr>
            <a:r>
              <a:t>•  Railway hosting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126480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Modular by design: capabilities can evolve independently without breaking the core application journey.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108960" cy="3108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INTELLIGENCE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AI proposes. Deterministic systems validate and score.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C4D8F7"/>
                </a:solidFill>
                <a:latin typeface="Aptos"/>
              </a:rPr>
              <a:t>Invenia AI separates semantic reasoning from numeric calculation to reduce arbitrary scoring and improve auditability.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44784" y="173736"/>
            <a:ext cx="914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244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FC8EF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AFC8EF"/>
                </a:solidFill>
                <a:latin typeface="Aptos"/>
              </a:rPr>
              <a:t>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828800"/>
            <a:ext cx="2926080" cy="388620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03120"/>
            <a:ext cx="2423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2D3EE"/>
                </a:solidFill>
                <a:latin typeface="Aptos"/>
              </a:rPr>
              <a:t>INPUT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2578608"/>
            <a:ext cx="2377440" cy="36576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660904"/>
            <a:ext cx="208483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Job description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099815"/>
            <a:ext cx="2377440" cy="36576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182112"/>
            <a:ext cx="208483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CV and profile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3621024"/>
            <a:ext cx="2377440" cy="36576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703320"/>
            <a:ext cx="208483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Assessment answers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142231"/>
            <a:ext cx="2377440" cy="36576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224528"/>
            <a:ext cx="208483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Interview transcript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4663440"/>
            <a:ext cx="2377440" cy="36576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745736"/>
            <a:ext cx="208483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Proctoring events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41648" y="1828800"/>
            <a:ext cx="4114800" cy="388620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2103120"/>
            <a:ext cx="3383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2D3EE"/>
                </a:solidFill>
                <a:latin typeface="Aptos"/>
              </a:rPr>
              <a:t>INVENIA INTELLIGENCE LAYER</a:t>
            </a:r>
          </a:p>
        </p:txBody>
      </p:sp>
      <p:sp>
        <p:nvSpPr>
          <p:cNvPr id="27" name="Oval 26"/>
          <p:cNvSpPr/>
          <p:nvPr/>
        </p:nvSpPr>
        <p:spPr>
          <a:xfrm>
            <a:off x="4389120" y="2532888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551176"/>
            <a:ext cx="365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01184" y="2523744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3B82F6"/>
                </a:solidFill>
                <a:latin typeface="Aptos"/>
              </a:rPr>
              <a:t>EXTRACT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2523744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Structured profile and job fields</a:t>
            </a:r>
          </a:p>
        </p:txBody>
      </p:sp>
      <p:sp>
        <p:nvSpPr>
          <p:cNvPr id="31" name="Oval 30"/>
          <p:cNvSpPr/>
          <p:nvPr/>
        </p:nvSpPr>
        <p:spPr>
          <a:xfrm>
            <a:off x="4389120" y="3099816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3118104"/>
            <a:ext cx="365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1184" y="309067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Aptos"/>
              </a:rPr>
              <a:t>CLASSIFY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3090672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Matched, partial, or missing evidence</a:t>
            </a:r>
          </a:p>
        </p:txBody>
      </p:sp>
      <p:sp>
        <p:nvSpPr>
          <p:cNvPr id="35" name="Oval 34"/>
          <p:cNvSpPr/>
          <p:nvPr/>
        </p:nvSpPr>
        <p:spPr>
          <a:xfrm>
            <a:off x="4389120" y="3666744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3685031"/>
            <a:ext cx="365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01184" y="3657600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Aptos"/>
              </a:rPr>
              <a:t>GENERATE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3657600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MCQs, coding prompts, interview turns</a:t>
            </a:r>
          </a:p>
        </p:txBody>
      </p:sp>
      <p:sp>
        <p:nvSpPr>
          <p:cNvPr id="39" name="Oval 38"/>
          <p:cNvSpPr/>
          <p:nvPr/>
        </p:nvSpPr>
        <p:spPr>
          <a:xfrm>
            <a:off x="4389120" y="4233672"/>
            <a:ext cx="365760" cy="36576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4251959"/>
            <a:ext cx="365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1184" y="422452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43F5E"/>
                </a:solidFill>
                <a:latin typeface="Aptos"/>
              </a:rPr>
              <a:t>ANALYZE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0" y="4224528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Interview performance and hiring risks</a:t>
            </a:r>
          </a:p>
        </p:txBody>
      </p:sp>
      <p:sp>
        <p:nvSpPr>
          <p:cNvPr id="43" name="Oval 42"/>
          <p:cNvSpPr/>
          <p:nvPr/>
        </p:nvSpPr>
        <p:spPr>
          <a:xfrm>
            <a:off x="4389120" y="48006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4818888"/>
            <a:ext cx="365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1184" y="4791456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Aptos"/>
              </a:rPr>
              <a:t>VALIDATE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4791456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Evidence quotes, schemas, confidence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13648" y="1828800"/>
            <a:ext cx="2926080" cy="388620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87968" y="210312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2D3EE"/>
                </a:solidFill>
                <a:latin typeface="Aptos"/>
              </a:rPr>
              <a:t>GOVERNED OUTPUTS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87968" y="2578608"/>
            <a:ext cx="2377440" cy="36576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34272" y="2660904"/>
            <a:ext cx="208483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Evidence-grounded Job ATS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87968" y="3099815"/>
            <a:ext cx="2377440" cy="36576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34272" y="3182112"/>
            <a:ext cx="208483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Versioned final score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87968" y="3621024"/>
            <a:ext cx="2377440" cy="36576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34272" y="3703320"/>
            <a:ext cx="208483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Question sets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87968" y="4142231"/>
            <a:ext cx="2377440" cy="36576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34272" y="4224528"/>
            <a:ext cx="208483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Interview report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87968" y="4663440"/>
            <a:ext cx="2377440" cy="36576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34272" y="4745736"/>
            <a:ext cx="208483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Recruiter recommendation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584448" y="3730752"/>
            <a:ext cx="4572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156448" y="3730752"/>
            <a:ext cx="4572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554480"/>
            <a:ext cx="3840480" cy="3840480"/>
          </a:xfrm>
          <a:prstGeom prst="ellipse">
            <a:avLst/>
          </a:prstGeom>
          <a:solidFill>
            <a:srgbClr val="E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Cloud-hosted, API-driven, and modular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Separated frontend and backend services connect to managed data, persistent media, and external intelligence services.</a:t>
            </a:r>
          </a:p>
        </p:txBody>
      </p:sp>
      <p:pic>
        <p:nvPicPr>
          <p:cNvPr id="8" name="Picture 7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D8E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74519"/>
            <a:ext cx="1920240" cy="10515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7D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20391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057400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039112"/>
            <a:ext cx="104241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Candidate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487168"/>
            <a:ext cx="1517904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Profile, jobs, applications, assessments, interview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37560"/>
            <a:ext cx="1920240" cy="1051560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DE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" y="3502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520440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502152"/>
            <a:ext cx="104241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Recruiter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950208"/>
            <a:ext cx="1517904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Jobs, pipeline, decisions, media, 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2148840"/>
            <a:ext cx="2148840" cy="1965960"/>
          </a:xfrm>
          <a:prstGeom prst="roundRect">
            <a:avLst/>
          </a:prstGeom>
          <a:solidFill>
            <a:srgbClr val="071B3D"/>
          </a:solidFill>
          <a:ln w="12700">
            <a:solidFill>
              <a:srgbClr val="07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27832" y="2468880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834640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React 19 + Vite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236976"/>
            <a:ext cx="15087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DCEAFF"/>
                </a:solidFill>
                <a:latin typeface="Aptos"/>
              </a:rPr>
              <a:t>Tailwind CSS</a:t>
            </a:r>
            <a:br/>
            <a:r>
              <a:t>Axios + Router</a:t>
            </a:r>
            <a:br/>
            <a:r>
              <a:t>Nginx container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13832" y="1783080"/>
            <a:ext cx="2468880" cy="269748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084831"/>
            <a:ext cx="17922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APPLICATION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5584" y="2450592"/>
            <a:ext cx="184708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FastAPI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2907792"/>
            <a:ext cx="173736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DCEAFF"/>
                </a:solidFill>
                <a:latin typeface="Aptos"/>
              </a:rPr>
              <a:t>JWT + role gates</a:t>
            </a:r>
            <a:br/>
            <a:r>
              <a:t>Workflow engine</a:t>
            </a:r>
            <a:br/>
            <a:r>
              <a:t>Scoring + analytics</a:t>
            </a:r>
            <a:br/>
            <a:r>
              <a:t>Uploads + media APIs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1691640"/>
            <a:ext cx="2743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14232" y="18562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4232" y="1874520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1856232"/>
            <a:ext cx="186537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 Display"/>
              </a:rPr>
              <a:t>PostgreSQL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0808" y="2304288"/>
            <a:ext cx="234086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0">
                <a:solidFill>
                  <a:srgbClr val="475569"/>
                </a:solidFill>
                <a:latin typeface="Aptos"/>
              </a:rPr>
              <a:t>Users, jobs, workflows, reports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49640" y="2880360"/>
            <a:ext cx="2743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14232" y="30449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3063240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2872" y="3044952"/>
            <a:ext cx="186537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 Display"/>
              </a:rPr>
              <a:t>Persistent volume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0808" y="3493008"/>
            <a:ext cx="234086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0">
                <a:solidFill>
                  <a:srgbClr val="475569"/>
                </a:solidFill>
                <a:latin typeface="Aptos"/>
              </a:rPr>
              <a:t>CVs, snapshots, recordings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49640" y="4069080"/>
            <a:ext cx="2743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714232" y="423367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14232" y="4251959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4233672"/>
            <a:ext cx="186537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 Display"/>
              </a:rPr>
              <a:t>Model APIs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0808" y="4681728"/>
            <a:ext cx="234086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0">
                <a:solidFill>
                  <a:srgbClr val="475569"/>
                </a:solidFill>
                <a:latin typeface="Aptos"/>
              </a:rPr>
              <a:t>Extraction, evidence, questions, analysis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49640" y="5257800"/>
            <a:ext cx="2743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714232" y="542239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14232" y="5440679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2872" y="5422392"/>
            <a:ext cx="186537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 Display"/>
              </a:rPr>
              <a:t>Voice 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50808" y="5870448"/>
            <a:ext cx="234086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9" b="0">
                <a:solidFill>
                  <a:srgbClr val="475569"/>
                </a:solidFill>
                <a:latin typeface="Aptos"/>
              </a:rPr>
              <a:t>Interview question speech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423160" y="2395728"/>
            <a:ext cx="502920" cy="39319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423160" y="3493008"/>
            <a:ext cx="502920" cy="36576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74920" y="3127248"/>
            <a:ext cx="438912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982712" y="2112264"/>
            <a:ext cx="566928" cy="1014984"/>
          </a:xfrm>
          <a:prstGeom prst="line">
            <a:avLst/>
          </a:prstGeom>
          <a:ln w="19050">
            <a:solidFill>
              <a:srgbClr val="0D2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82712" y="3127248"/>
            <a:ext cx="566928" cy="173736"/>
          </a:xfrm>
          <a:prstGeom prst="line">
            <a:avLst/>
          </a:prstGeom>
          <a:ln w="19050">
            <a:solidFill>
              <a:srgbClr val="0D2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982712" y="3127248"/>
            <a:ext cx="566928" cy="1362456"/>
          </a:xfrm>
          <a:prstGeom prst="line">
            <a:avLst/>
          </a:prstGeom>
          <a:ln w="19050">
            <a:solidFill>
              <a:srgbClr val="0D2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982712" y="3127248"/>
            <a:ext cx="566928" cy="2551176"/>
          </a:xfrm>
          <a:prstGeom prst="line">
            <a:avLst/>
          </a:prstGeom>
          <a:ln w="19050">
            <a:solidFill>
              <a:srgbClr val="0D2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2926080" y="4983480"/>
            <a:ext cx="5074920" cy="292608"/>
          </a:xfrm>
          <a:prstGeom prst="roundRect">
            <a:avLst/>
          </a:prstGeom>
          <a:solidFill>
            <a:srgbClr val="E8FBFF"/>
          </a:solidFill>
          <a:ln w="12700">
            <a:solidFill>
              <a:srgbClr val="BD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9232" y="5015484"/>
            <a:ext cx="49286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D2D61"/>
                </a:solidFill>
                <a:latin typeface="Aptos"/>
              </a:rPr>
              <a:t>RAILWAY - CONTAINERIZED PRODUCTION HOSTING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108960" cy="3108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TECHNOLOGY BIFURCATION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A modern full-stack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C4D8F7"/>
                </a:solidFill>
                <a:latin typeface="Aptos"/>
              </a:rPr>
              <a:t>Each layer uses focused frameworks and services chosen for delivery speed, maintainability, and cloud portability.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44784" y="173736"/>
            <a:ext cx="914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244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FC8EF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AFC8EF"/>
                </a:solidFill>
                <a:latin typeface="Aptos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828800"/>
            <a:ext cx="2057400" cy="406908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2084831"/>
            <a:ext cx="658368" cy="6583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103120"/>
            <a:ext cx="658368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98648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Aptos"/>
              </a:rPr>
              <a:t>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6499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41985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React 19.2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3075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78561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Vite 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9651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15137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React Router 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6227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51713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Tailwind CSS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2803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88289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Heroicons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19379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524865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Axios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39" y="1828800"/>
            <a:ext cx="2057400" cy="406908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20439" y="2084831"/>
            <a:ext cx="658368" cy="6583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39" y="2103120"/>
            <a:ext cx="658368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39" y="2898648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Aptos"/>
              </a:rPr>
              <a:t>SERVER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336499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0672" y="341985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Python 3.11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373075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90672" y="378561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FastAPI 0.135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0" y="409651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90672" y="415137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Pydantic 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17520" y="446227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90672" y="451713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Uvicorn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482803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90672" y="488289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Requests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17520" y="519379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0672" y="524865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Multipart uploads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66359" y="1828800"/>
            <a:ext cx="2057400" cy="406908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52159" y="2084831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59" y="2103120"/>
            <a:ext cx="658368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59" y="2898648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ptos"/>
              </a:rPr>
              <a:t>DATA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49240" y="336499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22392" y="341985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SQLAlchemy 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49240" y="373075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22392" y="378561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PostgreSQL 18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49240" y="409651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22392" y="415137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SQLite local mode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49240" y="446227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22392" y="451713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Persistent volumes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49240" y="482803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22392" y="488289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JSON workflow state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49240" y="519379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22392" y="524865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Binary media fields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98079" y="1828800"/>
            <a:ext cx="2057400" cy="406908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183879" y="2084831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83879" y="2103120"/>
            <a:ext cx="658368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26679" y="2898648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ptos"/>
              </a:rPr>
              <a:t>INTELLIGENCE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680959" y="336499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54111" y="341985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Gemini 2.5 Flash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680959" y="373075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54111" y="378561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Structured JSON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80959" y="409651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54111" y="415137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Evidence validation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680959" y="446227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54111" y="451713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Deterministic scoring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680959" y="482803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54111" y="488289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ElevenLabs TTS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680959" y="519379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54111" y="524865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Browser speech APIs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829800" y="1828800"/>
            <a:ext cx="2057400" cy="406908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515600" y="2084831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15600" y="2103120"/>
            <a:ext cx="658368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58400" y="2898648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ptos"/>
              </a:rPr>
              <a:t>PLATFORM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012680" y="336499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085832" y="341985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012680" y="373075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085832" y="378561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Railway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012680" y="409651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85832" y="415137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Nginx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012680" y="446227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085832" y="451713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CORS controls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012680" y="482803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85832" y="488289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Health checks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012680" y="5193792"/>
            <a:ext cx="1691640" cy="274320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085832" y="5248656"/>
            <a:ext cx="153619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Environment secrets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554480"/>
            <a:ext cx="3840480" cy="3840480"/>
          </a:xfrm>
          <a:prstGeom prst="ellipse">
            <a:avLst/>
          </a:prstGeom>
          <a:solidFill>
            <a:srgbClr val="E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One application record becomes the audit spine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Structured entities and stored workflow state keep candidate evidence, decisions, scores, and media connected job-by-job.</a:t>
            </a:r>
          </a:p>
        </p:txBody>
      </p:sp>
      <p:pic>
        <p:nvPicPr>
          <p:cNvPr id="8" name="Picture 7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D8E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190195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75104"/>
            <a:ext cx="16276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95144"/>
            <a:ext cx="16276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Identity, role,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24912" y="1828800"/>
            <a:ext cx="190195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2072" y="1975104"/>
            <a:ext cx="16276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2295144"/>
            <a:ext cx="16276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Candidate + recruiter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6904" y="1828800"/>
            <a:ext cx="190195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1975104"/>
            <a:ext cx="16276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ptos"/>
              </a:rPr>
              <a:t>JOBS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295144"/>
            <a:ext cx="16276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Details + assessment config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28800"/>
            <a:ext cx="190195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6056" y="1975104"/>
            <a:ext cx="16276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ptos"/>
              </a:rPr>
              <a:t>APPLICATIONS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2295144"/>
            <a:ext cx="16276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Status + workflow + scores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90888" y="1828800"/>
            <a:ext cx="190195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8048" y="1975104"/>
            <a:ext cx="16276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3F5E"/>
                </a:solidFill>
                <a:latin typeface="Aptos"/>
              </a:rPr>
              <a:t>INTERVIEWS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2295144"/>
            <a:ext cx="16276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Schedule + report + media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04872" y="2286000"/>
            <a:ext cx="320040" cy="0"/>
          </a:xfrm>
          <a:prstGeom prst="line">
            <a:avLst/>
          </a:prstGeom>
          <a:ln w="25400">
            <a:solidFill>
              <a:srgbClr val="0D2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26864" y="2286000"/>
            <a:ext cx="320039" cy="0"/>
          </a:xfrm>
          <a:prstGeom prst="line">
            <a:avLst/>
          </a:prstGeom>
          <a:ln w="25400">
            <a:solidFill>
              <a:srgbClr val="0D2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48856" y="2286000"/>
            <a:ext cx="320040" cy="0"/>
          </a:xfrm>
          <a:prstGeom prst="line">
            <a:avLst/>
          </a:prstGeom>
          <a:ln w="25400">
            <a:solidFill>
              <a:srgbClr val="0D2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70848" y="2286000"/>
            <a:ext cx="320040" cy="0"/>
          </a:xfrm>
          <a:prstGeom prst="line">
            <a:avLst/>
          </a:prstGeom>
          <a:ln w="25400">
            <a:solidFill>
              <a:srgbClr val="0D2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0120" y="3401568"/>
            <a:ext cx="10241280" cy="2148840"/>
          </a:xfrm>
          <a:prstGeom prst="roundRect">
            <a:avLst/>
          </a:prstGeom>
          <a:solidFill>
            <a:srgbClr val="071B3D"/>
          </a:solidFill>
          <a:ln w="12700">
            <a:solidFill>
              <a:srgbClr val="07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98448" y="3675887"/>
            <a:ext cx="2468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APPLICATION WORKFLOW STATE</a:t>
            </a:r>
          </a:p>
        </p:txBody>
      </p:sp>
      <p:sp>
        <p:nvSpPr>
          <p:cNvPr id="33" name="Oval 32"/>
          <p:cNvSpPr/>
          <p:nvPr/>
        </p:nvSpPr>
        <p:spPr>
          <a:xfrm>
            <a:off x="1298448" y="4187952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00784" y="4133087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Screening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0784" y="4425696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30" b="0">
                <a:solidFill>
                  <a:srgbClr val="C4D8F7"/>
                </a:solidFill>
                <a:latin typeface="Aptos"/>
              </a:rPr>
              <a:t>Approval / rejection</a:t>
            </a:r>
          </a:p>
        </p:txBody>
      </p:sp>
      <p:sp>
        <p:nvSpPr>
          <p:cNvPr id="36" name="Oval 35"/>
          <p:cNvSpPr/>
          <p:nvPr/>
        </p:nvSpPr>
        <p:spPr>
          <a:xfrm>
            <a:off x="2871215" y="4187952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73551" y="4133087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Assessments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73551" y="4425696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30" b="0">
                <a:solidFill>
                  <a:srgbClr val="C4D8F7"/>
                </a:solidFill>
                <a:latin typeface="Aptos"/>
              </a:rPr>
              <a:t>Questions + answers</a:t>
            </a:r>
          </a:p>
        </p:txBody>
      </p:sp>
      <p:sp>
        <p:nvSpPr>
          <p:cNvPr id="39" name="Oval 38"/>
          <p:cNvSpPr/>
          <p:nvPr/>
        </p:nvSpPr>
        <p:spPr>
          <a:xfrm>
            <a:off x="4443983" y="4187952"/>
            <a:ext cx="292608" cy="29260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4133087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Interview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4425696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30" b="0">
                <a:solidFill>
                  <a:srgbClr val="C4D8F7"/>
                </a:solidFill>
                <a:latin typeface="Aptos"/>
              </a:rPr>
              <a:t>Turns + transcript</a:t>
            </a:r>
          </a:p>
        </p:txBody>
      </p:sp>
      <p:sp>
        <p:nvSpPr>
          <p:cNvPr id="42" name="Oval 41"/>
          <p:cNvSpPr/>
          <p:nvPr/>
        </p:nvSpPr>
        <p:spPr>
          <a:xfrm>
            <a:off x="6016752" y="4187952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4133087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Media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4425696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30" b="0">
                <a:solidFill>
                  <a:srgbClr val="C4D8F7"/>
                </a:solidFill>
                <a:latin typeface="Aptos"/>
              </a:rPr>
              <a:t>Recording + snapshot</a:t>
            </a:r>
          </a:p>
        </p:txBody>
      </p:sp>
      <p:sp>
        <p:nvSpPr>
          <p:cNvPr id="45" name="Oval 44"/>
          <p:cNvSpPr/>
          <p:nvPr/>
        </p:nvSpPr>
        <p:spPr>
          <a:xfrm>
            <a:off x="7589520" y="4187952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91856" y="4133087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Scoring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91856" y="4425696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30" b="0">
                <a:solidFill>
                  <a:srgbClr val="C4D8F7"/>
                </a:solidFill>
                <a:latin typeface="Aptos"/>
              </a:rPr>
              <a:t>ATS + final formula</a:t>
            </a:r>
          </a:p>
        </p:txBody>
      </p:sp>
      <p:sp>
        <p:nvSpPr>
          <p:cNvPr id="48" name="Oval 47"/>
          <p:cNvSpPr/>
          <p:nvPr/>
        </p:nvSpPr>
        <p:spPr>
          <a:xfrm>
            <a:off x="9162288" y="4187952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64624" y="4133087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4425696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30" b="0">
                <a:solidFill>
                  <a:srgbClr val="C4D8F7"/>
                </a:solidFill>
                <a:latin typeface="Aptos"/>
              </a:rPr>
              <a:t>Events + timestamps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98448" y="5029200"/>
            <a:ext cx="94640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Result: recruiters can open one candidate/job record and inspect the CV, workflow, scoring calculation, interview answers, media, and decision status.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108960" cy="3108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SECURE ASSESSMENT AND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A controlled browser workflow with persistent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C4D8F7"/>
                </a:solidFill>
                <a:latin typeface="Aptos"/>
              </a:rPr>
              <a:t>Security controls improve integrity and traceability while preserving a clear, guided candidate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44784" y="173736"/>
            <a:ext cx="914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244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FC8EF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AFC8EF"/>
                </a:solidFill>
                <a:latin typeface="Aptos"/>
              </a:rPr>
              <a:t>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874519"/>
            <a:ext cx="3456432" cy="109728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95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2057400"/>
            <a:ext cx="438912" cy="43891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075688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029967"/>
            <a:ext cx="258775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 Display"/>
              </a:rPr>
              <a:t>Device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468879"/>
            <a:ext cx="31272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C4D8F7"/>
                </a:solidFill>
                <a:latin typeface="Aptos"/>
              </a:rPr>
              <a:t>Camera and microphone permission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1416" y="1874519"/>
            <a:ext cx="3456432" cy="109728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95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17720" y="2057400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075688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2029967"/>
            <a:ext cx="258775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 Display"/>
              </a:rPr>
              <a:t>Face presence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7" y="2468879"/>
            <a:ext cx="31272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C4D8F7"/>
                </a:solidFill>
                <a:latin typeface="Aptos"/>
              </a:rPr>
              <a:t>One-face monitoring where supported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4464" y="1874519"/>
            <a:ext cx="3456432" cy="109728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95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30768" y="205740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2075688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2029967"/>
            <a:ext cx="258775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 Display"/>
              </a:rPr>
              <a:t>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6" y="2468879"/>
            <a:ext cx="31272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C4D8F7"/>
                </a:solidFill>
                <a:latin typeface="Aptos"/>
              </a:rPr>
              <a:t>Snapshot plus 10-second mic sample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447287"/>
            <a:ext cx="3456432" cy="109728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95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672" y="3630168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648456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602735"/>
            <a:ext cx="258775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 Display"/>
              </a:rPr>
              <a:t>Secure session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041648"/>
            <a:ext cx="31272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C4D8F7"/>
                </a:solidFill>
                <a:latin typeface="Aptos"/>
              </a:rPr>
              <a:t>Fullscreen and visibility warnings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71416" y="3447287"/>
            <a:ext cx="3456432" cy="109728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95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17720" y="3630168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3648456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8" y="3602735"/>
            <a:ext cx="258775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 Display"/>
              </a:rPr>
              <a:t>Voice loop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7" y="4041648"/>
            <a:ext cx="31272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C4D8F7"/>
                </a:solidFill>
                <a:latin typeface="Aptos"/>
              </a:rPr>
              <a:t>Question speech and live transcript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84464" y="3447287"/>
            <a:ext cx="3456432" cy="109728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95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30768" y="3630168"/>
            <a:ext cx="438912" cy="43891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0768" y="3648456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3602735"/>
            <a:ext cx="258775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 Display"/>
              </a:rPr>
              <a:t>Evidence save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4041648"/>
            <a:ext cx="31272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C4D8F7"/>
                </a:solidFill>
                <a:latin typeface="Aptos"/>
              </a:rPr>
              <a:t>Video, audio, photo, transcript, report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257800"/>
            <a:ext cx="10835640" cy="7498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5431536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Integrity policy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5413248"/>
            <a:ext cx="8915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Leaving fullscreen or closing the secure terminal triggers warnings and can submit or lock the current attempt. Proctoring events are stored with the workflow.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554480"/>
            <a:ext cx="3840480" cy="3840480"/>
          </a:xfrm>
          <a:prstGeom prst="ellipse">
            <a:avLst/>
          </a:prstGeom>
          <a:solidFill>
            <a:srgbClr val="E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EXPLAINABLE SCORING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Job ATS: evidence against one exact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language model classifies evidence; the backend applies a deterministic, versioned formula. Grammar and visual formatting do not affect this score.</a:t>
            </a:r>
          </a:p>
        </p:txBody>
      </p:sp>
      <p:pic>
        <p:nvPicPr>
          <p:cNvPr id="8" name="Picture 7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D8E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783080"/>
            <a:ext cx="5029200" cy="713232"/>
          </a:xfrm>
          <a:prstGeom prst="roundRect">
            <a:avLst/>
          </a:prstGeom>
          <a:solidFill>
            <a:srgbClr val="071B3D"/>
          </a:solidFill>
          <a:ln w="12700">
            <a:solidFill>
              <a:srgbClr val="07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1783080"/>
            <a:ext cx="73152" cy="713232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892807"/>
            <a:ext cx="461772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Mono"/>
              </a:rPr>
              <a:t>Job ATS = 0.50R + 0.20S + 0.20E + 0.10D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615184"/>
            <a:ext cx="4800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R = requirement evidence   S = skill/tool coverage   E = relevant experience   D = responsibility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218688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Requirement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7792" y="3246120"/>
            <a:ext cx="2331720" cy="146304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E5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07792" y="3246120"/>
            <a:ext cx="2331720" cy="14630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3200400"/>
            <a:ext cx="365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Aptos"/>
              </a:rP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483864"/>
            <a:ext cx="4937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Matched=1.00 | Partial=0.45 | Missing=0.00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86200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Skill and tool coverage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07792" y="3913632"/>
            <a:ext cx="2331720" cy="146304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E5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07792" y="3913632"/>
            <a:ext cx="932688" cy="146304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21808" y="3867912"/>
            <a:ext cx="365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151376"/>
            <a:ext cx="4937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Role-specific terms found in CV/profile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553712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Experience alignment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7792" y="4581144"/>
            <a:ext cx="2331720" cy="146304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E5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07792" y="4581144"/>
            <a:ext cx="932688" cy="14630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21808" y="4535424"/>
            <a:ext cx="365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7C3AED"/>
                </a:solidFill>
                <a:latin typeface="Aptos"/>
              </a:rP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818888"/>
            <a:ext cx="4937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40% tenure sufficiency + 60% domain/title fit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221224"/>
            <a:ext cx="2240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Responsibility readiness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07792" y="5248656"/>
            <a:ext cx="2331720" cy="146304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E5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907792" y="5248656"/>
            <a:ext cx="466344" cy="14630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21808" y="5202936"/>
            <a:ext cx="365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Aptos"/>
              </a:rPr>
              <a:t>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486400"/>
            <a:ext cx="4937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Evidence for expected execution responsibilities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53328" y="1783080"/>
            <a:ext cx="5449824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039112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Requirement evidence weighting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2596896"/>
            <a:ext cx="4828032" cy="530352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715768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F43F5E"/>
                </a:solidFill>
                <a:latin typeface="Aptos"/>
              </a:rPr>
              <a:t>MANDATORY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2672" y="2670048"/>
            <a:ext cx="685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43F5E"/>
                </a:solidFill>
                <a:latin typeface="Aptos Display"/>
              </a:rPr>
              <a:t>1.35x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2715768"/>
            <a:ext cx="239572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Must / required / essential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3300984"/>
            <a:ext cx="4828032" cy="530352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3419856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STANDARD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2672" y="3374136"/>
            <a:ext cx="685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 Display"/>
              </a:rPr>
              <a:t>1.00x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3419856"/>
            <a:ext cx="239572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Normal role requirement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4005072"/>
            <a:ext cx="4828032" cy="530352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412394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PREFERRED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62672" y="4078224"/>
            <a:ext cx="685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ptos Display"/>
              </a:rPr>
              <a:t>0.70x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4123944"/>
            <a:ext cx="239572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Nice-to-have / desirable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4956048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43F5E"/>
                </a:solidFill>
                <a:latin typeface="Aptos Display"/>
              </a:rPr>
              <a:t>No artificial floor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5340096"/>
            <a:ext cx="47091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An unrelated CV can score near 0 instead of being forced to 35%. Each report also includes exact evidence, gaps, confidence, and formula components.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554480"/>
            <a:ext cx="3840480" cy="3840480"/>
          </a:xfrm>
          <a:prstGeom prst="ellipse">
            <a:avLst/>
          </a:prstGeom>
          <a:solidFill>
            <a:srgbClr val="E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EXPLAINABLE SCORING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Final Score: job fit plus enabled assessment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Disabled or skipped rounds are excluded. Remaining weights are normalized, and incomplete workflows remain explicitly provisional.</a:t>
            </a:r>
          </a:p>
        </p:txBody>
      </p:sp>
      <p:pic>
        <p:nvPicPr>
          <p:cNvPr id="8" name="Picture 7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D8E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755648"/>
            <a:ext cx="6565392" cy="640080"/>
          </a:xfrm>
          <a:prstGeom prst="roundRect">
            <a:avLst/>
          </a:prstGeom>
          <a:solidFill>
            <a:srgbClr val="071B3D"/>
          </a:solidFill>
          <a:ln w="12700">
            <a:solidFill>
              <a:srgbClr val="07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1755648"/>
            <a:ext cx="73152" cy="64008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865376"/>
            <a:ext cx="615391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Mono"/>
              </a:rPr>
              <a:t>Final = weighted average(Job ATS, Aptitude, Technical, Coding, Interview)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Job 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670048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Aptos"/>
              </a:rPr>
              <a:t>80% x 30%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62656"/>
            <a:ext cx="5074920" cy="146304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E5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2962656"/>
            <a:ext cx="4059936" cy="14630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871216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1">
                <a:solidFill>
                  <a:srgbClr val="2563EB"/>
                </a:solidFill>
                <a:latin typeface="Aptos"/>
              </a:rPr>
              <a:t>24.0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Aptitude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291840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Aptos"/>
              </a:rPr>
              <a:t>100% x 10%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84448"/>
            <a:ext cx="5074920" cy="146304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E5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584448"/>
            <a:ext cx="5074920" cy="146304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16168" y="3493008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1">
                <a:solidFill>
                  <a:srgbClr val="22D3EE"/>
                </a:solidFill>
                <a:latin typeface="Aptos"/>
              </a:rPr>
              <a:t>10.0 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13632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Technical MCQ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913632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Aptos"/>
              </a:rPr>
              <a:t>80% x 15%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06240"/>
            <a:ext cx="5074920" cy="146304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E5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4206240"/>
            <a:ext cx="4059936" cy="14630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16168" y="4114800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1">
                <a:solidFill>
                  <a:srgbClr val="7C3AED"/>
                </a:solidFill>
                <a:latin typeface="Aptos"/>
              </a:rPr>
              <a:t>12.0 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35424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Coding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535424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Aptos"/>
              </a:rPr>
              <a:t>70% x 20%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828032"/>
            <a:ext cx="5074920" cy="146304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E5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4828032"/>
            <a:ext cx="3552444" cy="14630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16168" y="4736592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1">
                <a:solidFill>
                  <a:srgbClr val="F59E0B"/>
                </a:solidFill>
                <a:latin typeface="Aptos"/>
              </a:rPr>
              <a:t>14.0 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57216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Interview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157216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Aptos"/>
              </a:rPr>
              <a:t>90% x 25%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449824"/>
            <a:ext cx="5074920" cy="146304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E5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" y="5449824"/>
            <a:ext cx="4567428" cy="146304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16168" y="5358384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1">
                <a:solidFill>
                  <a:srgbClr val="F43F5E"/>
                </a:solidFill>
                <a:latin typeface="Aptos"/>
              </a:rPr>
              <a:t>22.5 pts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76288" y="1828800"/>
            <a:ext cx="4572000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05472" y="2112264"/>
            <a:ext cx="19202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 Display"/>
              </a:rPr>
              <a:t>Worked example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5472" y="2679192"/>
            <a:ext cx="387705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D2D61"/>
                </a:solidFill>
                <a:latin typeface="Aptos Mono"/>
              </a:rPr>
              <a:t>(80x0.30) + (100x0.10) + (80x0.15) + (70x0.20) + (90x0.25)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008" y="3493008"/>
            <a:ext cx="21488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10B981"/>
                </a:solidFill>
                <a:latin typeface="Aptos Display"/>
              </a:rPr>
              <a:t>82.5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4160520"/>
            <a:ext cx="2103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FINAL SCORE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23760" y="4718304"/>
            <a:ext cx="3858768" cy="8686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7D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24927" y="4901184"/>
            <a:ext cx="345643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475569"/>
                </a:solidFill>
                <a:latin typeface="Aptos"/>
              </a:rPr>
              <a:t>If Technical and Coding are disabled, their weights are removed and Job ATS + Aptitude + Interview weights are normalized to 100%.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108960" cy="3108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DECISION USEFULNESS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Each score answers a different recruiter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C4D8F7"/>
                </a:solidFill>
                <a:latin typeface="Aptos"/>
              </a:rPr>
              <a:t>Keeping profile quality, job fit, stage performance, and confidence separate prevents misleading comparisons.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44784" y="173736"/>
            <a:ext cx="914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244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FC8EF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AFC8EF"/>
                </a:solidFill>
                <a:latin typeface="Aptos"/>
              </a:rPr>
              <a:t>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874519"/>
            <a:ext cx="3456432" cy="150876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057400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3B82F6"/>
                </a:solidFill>
                <a:latin typeface="Aptos"/>
              </a:rPr>
              <a:t>PROFILE 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404872"/>
            <a:ext cx="30358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Is the CV/profile sufficiently complete and readable?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" y="2953511"/>
            <a:ext cx="1508760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985515"/>
            <a:ext cx="13624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B82F6"/>
                </a:solidFill>
                <a:latin typeface="Aptos"/>
              </a:rPr>
              <a:t>GENERAL READINESS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1416" y="1874519"/>
            <a:ext cx="3456432" cy="150876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2057400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22D3EE"/>
                </a:solidFill>
                <a:latin typeface="Aptos"/>
              </a:rPr>
              <a:t>MATCH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404872"/>
            <a:ext cx="30358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Do declared skills overlap with posted requirements?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72583" y="2953511"/>
            <a:ext cx="1508760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5736" y="2985515"/>
            <a:ext cx="13624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22D3EE"/>
                </a:solidFill>
                <a:latin typeface="Aptos"/>
              </a:rPr>
              <a:t>FAST PREVIEW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4464" y="1874519"/>
            <a:ext cx="3456432" cy="150876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2057400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Aptos"/>
              </a:rPr>
              <a:t>JOB 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404872"/>
            <a:ext cx="30358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What evidence proves fit for this exact role?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85632" y="2953511"/>
            <a:ext cx="1508760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58784" y="2985515"/>
            <a:ext cx="13624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Aptos"/>
              </a:rPr>
              <a:t>SCREENING PRIORITY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21608"/>
            <a:ext cx="3456432" cy="150876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90448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Aptos"/>
              </a:rPr>
              <a:t>STAGE SCORES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251960"/>
            <a:ext cx="30358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How did the candidate perform in each enabled round?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" y="4800600"/>
            <a:ext cx="1508760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832604"/>
            <a:ext cx="13624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Aptos"/>
              </a:rPr>
              <a:t>CAPABILITY 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71416" y="3721608"/>
            <a:ext cx="3456432" cy="150876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2583" y="390448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Aptos"/>
              </a:rPr>
              <a:t>FINAL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2583" y="4251960"/>
            <a:ext cx="30358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What is the normalized outcome across available evidence?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72583" y="4800600"/>
            <a:ext cx="1508760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736" y="4832604"/>
            <a:ext cx="13624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Aptos"/>
              </a:rPr>
              <a:t>OVERALL COMPARISON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84464" y="3721608"/>
            <a:ext cx="3456432" cy="150876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3904488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43F5E"/>
                </a:solidFill>
                <a:latin typeface="Aptos"/>
              </a:rPr>
              <a:t>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5632" y="4251960"/>
            <a:ext cx="30358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How strong and well-structured is the underlying evidence?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85632" y="4800600"/>
            <a:ext cx="1508760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58784" y="4832604"/>
            <a:ext cx="13624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43F5E"/>
                </a:solidFill>
                <a:latin typeface="Aptos"/>
              </a:rPr>
              <a:t>MANUAL REVIEW SIGNAL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815584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DCEAFF"/>
                </a:solidFill>
                <a:latin typeface="Aptos"/>
              </a:rPr>
              <a:t>Scores support decisions; evidence and recruiter judgment remain the final authority.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554480"/>
            <a:ext cx="3840480" cy="3840480"/>
          </a:xfrm>
          <a:prstGeom prst="ellipse">
            <a:avLst/>
          </a:prstGeom>
          <a:solidFill>
            <a:srgbClr val="E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RECRUITER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Job-wise comparison instead of profile-only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Recruiters can move from portfolio KPIs to job-level demand, candidate evidence, performance, risk, recordings, and approval actions.</a:t>
            </a:r>
          </a:p>
        </p:txBody>
      </p:sp>
      <p:pic>
        <p:nvPicPr>
          <p:cNvPr id="8" name="Picture 7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D8E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09928"/>
            <a:ext cx="7598664" cy="4626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cruiter-analytics.png"/>
          <p:cNvPicPr>
            <a:picLocks noChangeAspect="1"/>
          </p:cNvPicPr>
          <p:nvPr/>
        </p:nvPicPr>
        <p:blipFill>
          <a:blip r:embed="rId3"/>
          <a:srcRect t="1902" b="1902"/>
          <a:stretch>
            <a:fillRect/>
          </a:stretch>
        </p:blipFill>
        <p:spPr>
          <a:xfrm>
            <a:off x="621792" y="1783080"/>
            <a:ext cx="7452360" cy="44805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94192" y="1856231"/>
            <a:ext cx="30632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77072" y="2002536"/>
            <a:ext cx="841248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0224" y="2034540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2912" y="2029967"/>
            <a:ext cx="162763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Top 5 / 10 / 20 candidates by job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2862072"/>
            <a:ext cx="30632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77072" y="3008376"/>
            <a:ext cx="841248" cy="29260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0224" y="3040380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2" y="3035808"/>
            <a:ext cx="162763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ATS, stages, final score,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4192" y="3867912"/>
            <a:ext cx="30632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77072" y="4014216"/>
            <a:ext cx="841248" cy="292608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50224" y="4046220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INSPECT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4041648"/>
            <a:ext cx="162763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CV, interview turns, transcript, media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94192" y="4873752"/>
            <a:ext cx="30632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77072" y="5020056"/>
            <a:ext cx="841248" cy="292608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50224" y="5052060"/>
            <a:ext cx="69494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5047488"/>
            <a:ext cx="162763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Approve, reject, schedule, export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4192" y="5650992"/>
            <a:ext cx="3063240" cy="530352"/>
          </a:xfrm>
          <a:prstGeom prst="roundRect">
            <a:avLst/>
          </a:prstGeom>
          <a:solidFill>
            <a:srgbClr val="071B3D"/>
          </a:solidFill>
          <a:ln w="12700">
            <a:solidFill>
              <a:srgbClr val="07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94192" y="5650992"/>
            <a:ext cx="73152" cy="530352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22792" y="5760720"/>
            <a:ext cx="2651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Mono"/>
              </a:rPr>
              <a:t>THE RECRUITER SEES THE WHY, NOT ONLY THE RANK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554480"/>
            <a:ext cx="3840480" cy="3840480"/>
          </a:xfrm>
          <a:prstGeom prst="ellipse">
            <a:avLst/>
          </a:prstGeom>
          <a:solidFill>
            <a:srgbClr val="E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SMART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Convert unstructured hiring inputs into reviewable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Automation accelerates setup while preserving human confirmation before publishing or making decisions.</a:t>
            </a:r>
          </a:p>
        </p:txBody>
      </p:sp>
      <p:pic>
        <p:nvPicPr>
          <p:cNvPr id="8" name="Picture 7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D8E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09928"/>
            <a:ext cx="6291072" cy="4489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cruiter-job-form.png"/>
          <p:cNvPicPr>
            <a:picLocks noChangeAspect="1"/>
          </p:cNvPicPr>
          <p:nvPr/>
        </p:nvPicPr>
        <p:blipFill>
          <a:blip r:embed="rId3"/>
          <a:srcRect l="5789" r="5789"/>
          <a:stretch>
            <a:fillRect/>
          </a:stretch>
        </p:blipFill>
        <p:spPr>
          <a:xfrm>
            <a:off x="621792" y="1783080"/>
            <a:ext cx="6144768" cy="4343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095744" y="1810512"/>
            <a:ext cx="4370832" cy="886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95744" y="1810512"/>
            <a:ext cx="73152" cy="8869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938528"/>
            <a:ext cx="1508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JOB AUTOFILL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1929384"/>
            <a:ext cx="239572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Paste text or upload PDF, Word, or image. Structured JSON fills title, type, experience, salary, requirements, responsibilities, and benefits.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95744" y="2889504"/>
            <a:ext cx="4370832" cy="886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95744" y="2889504"/>
            <a:ext cx="73152" cy="886968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3017520"/>
            <a:ext cx="1508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22D3EE"/>
                </a:solidFill>
                <a:latin typeface="Aptos"/>
              </a:rPr>
              <a:t>PROFILE AUTOFILL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3008376"/>
            <a:ext cx="239572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CV extraction fills candidate details, experience, skills, summary, links, and preferences with uncertainty warnings.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95744" y="3968496"/>
            <a:ext cx="4370832" cy="886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95744" y="3968496"/>
            <a:ext cx="73152" cy="88696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4096511"/>
            <a:ext cx="1508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7C3AED"/>
                </a:solidFill>
                <a:latin typeface="Aptos"/>
              </a:rPr>
              <a:t>QUESTION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4087368"/>
            <a:ext cx="239572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Role-context aptitude, technical, coding, and interview questions vary between sessions.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95744" y="5047488"/>
            <a:ext cx="4370832" cy="886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95744" y="5047488"/>
            <a:ext cx="73152" cy="886968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5175503"/>
            <a:ext cx="1508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Aptos"/>
              </a:rPr>
              <a:t>HUMAN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5166359"/>
            <a:ext cx="239572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Autofill never publishes automatically. Recruiters review values and warnings before submission.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14032" y="5669280"/>
            <a:ext cx="4315968" cy="292608"/>
          </a:xfrm>
          <a:prstGeom prst="roundRect">
            <a:avLst/>
          </a:prstGeom>
          <a:solidFill>
            <a:srgbClr val="E8FBFF"/>
          </a:solidFill>
          <a:ln w="12700">
            <a:solidFill>
              <a:srgbClr val="BD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87184" y="5701284"/>
            <a:ext cx="4169663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2D61"/>
                </a:solidFill>
                <a:latin typeface="Aptos"/>
              </a:rPr>
              <a:t>LOW-TEMPERATURE STRUCTURED OUTPUT + SCHEMA VALIDATION + EVIDENCE CHECKS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108960" cy="3108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IMPLEMENTATION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Built with deployable technology and practical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C4D8F7"/>
                </a:solidFill>
                <a:latin typeface="Aptos"/>
              </a:rPr>
              <a:t>The current system proves technical and operational feasibility; enterprise hardening can be added incrementally without replacing the core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44784" y="173736"/>
            <a:ext cx="914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244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FC8EF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AFC8EF"/>
                </a:solidFill>
                <a:latin typeface="Aptos"/>
              </a:rP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874519"/>
            <a:ext cx="5166360" cy="1261872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057400"/>
            <a:ext cx="13898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TECHNICAL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4568" y="2020824"/>
            <a:ext cx="960120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052828"/>
            <a:ext cx="8138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B82F6"/>
                </a:solidFill>
                <a:latin typeface="Aptos"/>
              </a:rPr>
              <a:t>PROVEN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441448"/>
            <a:ext cx="46177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Mature web frameworks, REST APIs, browser media primitives, structured model outputs, and managed PostgreSQL.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74519"/>
            <a:ext cx="5166360" cy="1261872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57400"/>
            <a:ext cx="13898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ptos"/>
              </a:rPr>
              <a:t>OPERATIONAL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76688" y="2020824"/>
            <a:ext cx="960120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2052828"/>
            <a:ext cx="8138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Aptos"/>
              </a:rPr>
              <a:t>USABLE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41448"/>
            <a:ext cx="46177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Role-specific interfaces, guided stage gates, review-before-publish, immutable decisions, and exports.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447287"/>
            <a:ext cx="5166360" cy="1261872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630168"/>
            <a:ext cx="13898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ECONOMIC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3593591"/>
            <a:ext cx="960120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625596"/>
            <a:ext cx="8138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Aptos"/>
              </a:rPr>
              <a:t>LEAN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014215"/>
            <a:ext cx="46177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Open-source application stack with usage-based external intelligence and container hosting.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447287"/>
            <a:ext cx="5166360" cy="1261872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0168"/>
            <a:ext cx="13898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SCALABILITY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76688" y="3593591"/>
            <a:ext cx="960120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3625596"/>
            <a:ext cx="8138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Aptos"/>
              </a:rPr>
              <a:t>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014215"/>
            <a:ext cx="46177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Separated services, stateless API patterns, pooled DB connectivity, and persistent storage volumes.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093208"/>
            <a:ext cx="10698480" cy="758952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303520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CURRENT PRODUCTION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248656"/>
            <a:ext cx="8549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Frontend + backend on Railway | PostgreSQL service | persistent CV/interview media volume | health checks | environment-managed secrets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554480"/>
            <a:ext cx="3840480" cy="3840480"/>
          </a:xfrm>
          <a:prstGeom prst="ellipse">
            <a:avLst/>
          </a:prstGeom>
          <a:solidFill>
            <a:srgbClr val="E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SECURITY AND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Defense-in-depth across identity, workflow, and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implementation combines preventive controls, evidence capture, and role-separated operations.</a:t>
            </a:r>
          </a:p>
        </p:txBody>
      </p:sp>
      <p:pic>
        <p:nvPicPr>
          <p:cNvPr id="8" name="Picture 7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D8E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74519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07008" y="214884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2167128"/>
            <a:ext cx="640080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90088"/>
            <a:ext cx="1600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447288"/>
            <a:ext cx="16459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Password hashing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JWT bearer tokens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Active-account checks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Role-specific route guards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39" y="1874519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38727" y="21488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7" y="2167128"/>
            <a:ext cx="640080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39" y="2990088"/>
            <a:ext cx="1600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ptos"/>
              </a:rPr>
              <a:t>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4951" y="3447288"/>
            <a:ext cx="16459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Recruiter approval gate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No duplicate application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Irreversible approve/reject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Disabled stages omitted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59" y="1874519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70448" y="21488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2167128"/>
            <a:ext cx="640080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59" y="2990088"/>
            <a:ext cx="1600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3447288"/>
            <a:ext cx="16459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Fullscreen events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Visibility warnings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Camera and mic readiness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Face-presence signal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1874519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02167" y="2148840"/>
            <a:ext cx="640080" cy="64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7" y="2167128"/>
            <a:ext cx="640080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2990088"/>
            <a:ext cx="1600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43F5E"/>
                </a:solidFill>
                <a:latin typeface="Aptos"/>
              </a:rPr>
              <a:t>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8392" y="3447288"/>
            <a:ext cx="16459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Snapshot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Video + audio recording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Transcript + question turns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Timestamped report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1874519"/>
            <a:ext cx="2057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33888" y="21488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33888" y="2167128"/>
            <a:ext cx="640080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990088"/>
            <a:ext cx="1600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ptos"/>
              </a:rPr>
              <a:t>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2" y="3447288"/>
            <a:ext cx="16459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CORS allowlist/regex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Environment secrets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Upload size controls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919">
                <a:solidFill>
                  <a:srgbClr val="475569"/>
                </a:solidFill>
                <a:latin typeface="Aptos"/>
              </a:defRPr>
            </a:pPr>
            <a:r>
              <a:t>•  Persistent storage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50992"/>
            <a:ext cx="10835640" cy="530352"/>
          </a:xfrm>
          <a:prstGeom prst="roundRect">
            <a:avLst/>
          </a:prstGeom>
          <a:solidFill>
            <a:srgbClr val="071B3D"/>
          </a:solidFill>
          <a:ln w="12700">
            <a:solidFill>
              <a:srgbClr val="07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8368" y="5650992"/>
            <a:ext cx="73152" cy="530352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" y="5760720"/>
            <a:ext cx="104241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Mono"/>
              </a:rPr>
              <a:t>Enterprise next step: SSO/SAML + RBAC policies + encrypted object storage + retention controls + audit export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554480"/>
            <a:ext cx="3840480" cy="3840480"/>
          </a:xfrm>
          <a:prstGeom prst="ellipse">
            <a:avLst/>
          </a:prstGeom>
          <a:solidFill>
            <a:srgbClr val="E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COMPETITIVE 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Why Invenia AI is differentiated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USP is not one AI feature; it is the connected, explainable decision workflow across screening, assessment, interview, and analytics.</a:t>
            </a:r>
          </a:p>
        </p:txBody>
      </p:sp>
      <p:pic>
        <p:nvPicPr>
          <p:cNvPr id="8" name="Picture 7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D8E6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783080"/>
            <a:ext cx="2788920" cy="502920"/>
          </a:xfrm>
          <a:prstGeom prst="roundRect">
            <a:avLst/>
          </a:prstGeom>
          <a:solidFill>
            <a:srgbClr val="0D2D61"/>
          </a:solidFill>
          <a:ln w="12700">
            <a:solidFill>
              <a:srgbClr val="0D2D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920240"/>
            <a:ext cx="2642615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CAPABILITY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783080"/>
            <a:ext cx="1965960" cy="502920"/>
          </a:xfrm>
          <a:prstGeom prst="rect">
            <a:avLst/>
          </a:prstGeom>
          <a:solidFill>
            <a:srgbClr val="0D2D61"/>
          </a:solidFill>
          <a:ln w="12700">
            <a:solidFill>
              <a:srgbClr val="0D2D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1920240"/>
            <a:ext cx="18196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TRADITIONAL ATS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1783080"/>
            <a:ext cx="1874519" cy="502920"/>
          </a:xfrm>
          <a:prstGeom prst="rect">
            <a:avLst/>
          </a:prstGeom>
          <a:solidFill>
            <a:srgbClr val="0D2D61"/>
          </a:solidFill>
          <a:ln w="12700">
            <a:solidFill>
              <a:srgbClr val="0D2D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9512" y="1920240"/>
            <a:ext cx="17282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TEST 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783080"/>
            <a:ext cx="1828800" cy="502920"/>
          </a:xfrm>
          <a:prstGeom prst="rect">
            <a:avLst/>
          </a:prstGeom>
          <a:solidFill>
            <a:srgbClr val="0D2D61"/>
          </a:solidFill>
          <a:ln w="12700">
            <a:solidFill>
              <a:srgbClr val="0D2D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2" y="1920240"/>
            <a:ext cx="16824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VIDEO TOOL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783080"/>
            <a:ext cx="2194560" cy="502920"/>
          </a:xfrm>
          <a:prstGeom prst="roundRect">
            <a:avLst/>
          </a:prstGeom>
          <a:solidFill>
            <a:srgbClr val="071B3D"/>
          </a:solidFill>
          <a:ln w="12700">
            <a:solidFill>
              <a:srgbClr val="07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1920240"/>
            <a:ext cx="2048255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INVENIA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313432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459736"/>
            <a:ext cx="26060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Aptos"/>
              </a:rPr>
              <a:t>Job-context CV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313432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2459736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Limited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6360" y="2313432"/>
            <a:ext cx="1874519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459736"/>
            <a:ext cx="16916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2313432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2459736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2313432"/>
            <a:ext cx="2194560" cy="530352"/>
          </a:xfrm>
          <a:prstGeom prst="rect">
            <a:avLst/>
          </a:prstGeom>
          <a:solidFill>
            <a:srgbClr val="EAF2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19" y="2459736"/>
            <a:ext cx="20116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1">
                <a:solidFill>
                  <a:srgbClr val="10B981"/>
                </a:solidFill>
                <a:latin typeface="Aptos"/>
              </a:rPr>
              <a:t>Strong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880360"/>
            <a:ext cx="2788920" cy="530352"/>
          </a:xfrm>
          <a:prstGeom prst="rect">
            <a:avLst/>
          </a:prstGeom>
          <a:solidFill>
            <a:srgbClr val="F7FA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026664"/>
            <a:ext cx="26060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Aptos"/>
              </a:rPr>
              <a:t>Configurable stage workflow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2880360"/>
            <a:ext cx="1965960" cy="530352"/>
          </a:xfrm>
          <a:prstGeom prst="rect">
            <a:avLst/>
          </a:prstGeom>
          <a:solidFill>
            <a:srgbClr val="F7FA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3026664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Partial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66360" y="2880360"/>
            <a:ext cx="1874519" cy="530352"/>
          </a:xfrm>
          <a:prstGeom prst="rect">
            <a:avLst/>
          </a:prstGeom>
          <a:solidFill>
            <a:srgbClr val="F7FA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3026664"/>
            <a:ext cx="16916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Partial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2880360"/>
            <a:ext cx="1828800" cy="530352"/>
          </a:xfrm>
          <a:prstGeom prst="rect">
            <a:avLst/>
          </a:prstGeom>
          <a:solidFill>
            <a:srgbClr val="F7FA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3026664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2880360"/>
            <a:ext cx="2194560" cy="530352"/>
          </a:xfrm>
          <a:prstGeom prst="rect">
            <a:avLst/>
          </a:prstGeom>
          <a:solidFill>
            <a:srgbClr val="EAF2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19" y="3026664"/>
            <a:ext cx="20116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1">
                <a:solidFill>
                  <a:srgbClr val="10B981"/>
                </a:solidFill>
                <a:latin typeface="Aptos"/>
              </a:rPr>
              <a:t>End-to-end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447287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593591"/>
            <a:ext cx="26060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Aptos"/>
              </a:rPr>
              <a:t>Secure voice interview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3447287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3593591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66360" y="3447287"/>
            <a:ext cx="1874519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57800" y="3593591"/>
            <a:ext cx="16916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3447287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0" y="3593591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Video only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69680" y="3447287"/>
            <a:ext cx="2194560" cy="530352"/>
          </a:xfrm>
          <a:prstGeom prst="rect">
            <a:avLst/>
          </a:prstGeom>
          <a:solidFill>
            <a:srgbClr val="EAF2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19" y="3593591"/>
            <a:ext cx="20116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1">
                <a:solidFill>
                  <a:srgbClr val="10B981"/>
                </a:solidFill>
                <a:latin typeface="Aptos"/>
              </a:rPr>
              <a:t>Integrated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014215"/>
            <a:ext cx="2788920" cy="530352"/>
          </a:xfrm>
          <a:prstGeom prst="rect">
            <a:avLst/>
          </a:prstGeom>
          <a:solidFill>
            <a:srgbClr val="F7FA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4160520"/>
            <a:ext cx="26060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Aptos"/>
              </a:rPr>
              <a:t>Deterministic score formula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4014215"/>
            <a:ext cx="1965960" cy="530352"/>
          </a:xfrm>
          <a:prstGeom prst="rect">
            <a:avLst/>
          </a:prstGeom>
          <a:solidFill>
            <a:srgbClr val="F7FA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0" y="4160520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Opaque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66360" y="4014215"/>
            <a:ext cx="1874519" cy="530352"/>
          </a:xfrm>
          <a:prstGeom prst="rect">
            <a:avLst/>
          </a:prstGeom>
          <a:solidFill>
            <a:srgbClr val="F7FA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57800" y="4160520"/>
            <a:ext cx="16916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Test only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40880" y="4014215"/>
            <a:ext cx="1828800" cy="530352"/>
          </a:xfrm>
          <a:prstGeom prst="rect">
            <a:avLst/>
          </a:prstGeom>
          <a:solidFill>
            <a:srgbClr val="F7FA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0" y="4160520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4014215"/>
            <a:ext cx="2194560" cy="530352"/>
          </a:xfrm>
          <a:prstGeom prst="rect">
            <a:avLst/>
          </a:prstGeom>
          <a:solidFill>
            <a:srgbClr val="EAF2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61119" y="4160520"/>
            <a:ext cx="20116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1">
                <a:solidFill>
                  <a:srgbClr val="10B981"/>
                </a:solidFill>
                <a:latin typeface="Aptos"/>
              </a:rPr>
              <a:t>Explainable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4581144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4727448"/>
            <a:ext cx="26060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Aptos"/>
              </a:rPr>
              <a:t>Interview media + transcript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0" y="4581144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91840" y="4727448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External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66360" y="4581144"/>
            <a:ext cx="1874519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57800" y="4727448"/>
            <a:ext cx="16916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External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40880" y="4581144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32320" y="4727448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Yes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69680" y="4581144"/>
            <a:ext cx="2194560" cy="530352"/>
          </a:xfrm>
          <a:prstGeom prst="rect">
            <a:avLst/>
          </a:prstGeom>
          <a:solidFill>
            <a:srgbClr val="EAF2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61119" y="4727448"/>
            <a:ext cx="20116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1">
                <a:solidFill>
                  <a:srgbClr val="10B981"/>
                </a:solidFill>
                <a:latin typeface="Aptos"/>
              </a:rPr>
              <a:t>Connected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148072"/>
            <a:ext cx="2788920" cy="530352"/>
          </a:xfrm>
          <a:prstGeom prst="rect">
            <a:avLst/>
          </a:prstGeom>
          <a:solidFill>
            <a:srgbClr val="F7FA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5294376"/>
            <a:ext cx="26060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Aptos"/>
              </a:rPr>
              <a:t>Job-wise comparison + export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0" y="5148072"/>
            <a:ext cx="1965960" cy="530352"/>
          </a:xfrm>
          <a:prstGeom prst="rect">
            <a:avLst/>
          </a:prstGeom>
          <a:solidFill>
            <a:srgbClr val="F7FA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91840" y="5294376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Basic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66360" y="5148072"/>
            <a:ext cx="1874519" cy="530352"/>
          </a:xfrm>
          <a:prstGeom prst="rect">
            <a:avLst/>
          </a:prstGeom>
          <a:solidFill>
            <a:srgbClr val="F7FA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57800" y="5294376"/>
            <a:ext cx="16916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Partial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40880" y="5148072"/>
            <a:ext cx="1828800" cy="530352"/>
          </a:xfrm>
          <a:prstGeom prst="rect">
            <a:avLst/>
          </a:prstGeom>
          <a:solidFill>
            <a:srgbClr val="F7FA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32320" y="5294376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475569"/>
                </a:solidFill>
                <a:latin typeface="Aptos"/>
              </a:rPr>
              <a:t>No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69680" y="5148072"/>
            <a:ext cx="2194560" cy="530352"/>
          </a:xfrm>
          <a:prstGeom prst="rect">
            <a:avLst/>
          </a:prstGeom>
          <a:solidFill>
            <a:srgbClr val="EAF2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61119" y="5294376"/>
            <a:ext cx="20116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19" b="1">
                <a:solidFill>
                  <a:srgbClr val="10B981"/>
                </a:solidFill>
                <a:latin typeface="Aptos"/>
              </a:rPr>
              <a:t>Unified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" y="5532120"/>
            <a:ext cx="347472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04671" y="56967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4671" y="5714999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53312" y="5696712"/>
            <a:ext cx="259689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 Display"/>
              </a:rPr>
              <a:t>Evidence-grounded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1247" y="6144768"/>
            <a:ext cx="3072384" cy="-457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Scores show matched, partial, missing, and quoted evidence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462272" y="5532120"/>
            <a:ext cx="347472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626864" y="569671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26864" y="5714999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75504" y="5696712"/>
            <a:ext cx="259689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 Display"/>
              </a:rPr>
              <a:t>Workflow-aware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63440" y="6144768"/>
            <a:ext cx="3072384" cy="-457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Only recruiter-enabled stages influence candidate flow and final score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284463" y="5532120"/>
            <a:ext cx="347472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449055" y="5696712"/>
            <a:ext cx="438912" cy="43891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49055" y="5714999"/>
            <a:ext cx="43891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97695" y="5696712"/>
            <a:ext cx="259689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 Display"/>
              </a:rPr>
              <a:t>Media-complete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85632" y="6144768"/>
            <a:ext cx="3072384" cy="-457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CV, snapshot, recording, transcript, report, and exports stay connected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108960" cy="3108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Roadmap from commercial MVP to enterprise talent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5296"/>
            <a:ext cx="10149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C4D8F7"/>
                </a:solidFill>
                <a:latin typeface="Aptos"/>
              </a:rPr>
              <a:t>The architecture supports incremental hardening, deeper automation, and enterprise integrations.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44784" y="173736"/>
            <a:ext cx="914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10312"/>
            <a:ext cx="749808" cy="542860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244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FC8EF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AFC8EF"/>
                </a:solidFill>
                <a:latin typeface="Aptos"/>
              </a:rPr>
              <a:t>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828800"/>
            <a:ext cx="2606040" cy="3977639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" y="2084831"/>
            <a:ext cx="786384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116836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B82F6"/>
                </a:solidFill>
                <a:latin typeface="Aptos"/>
              </a:rPr>
              <a:t>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606040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Commercial 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310128"/>
            <a:ext cx="219456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Dual portals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Grounded ATS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Assessments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Recorded interview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Analytics +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285232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600" b="1">
                <a:solidFill>
                  <a:srgbClr val="3B82F6"/>
                </a:solidFill>
                <a:latin typeface="Aptos Display"/>
              </a:rPr>
              <a:t>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1828800"/>
            <a:ext cx="2606040" cy="3977639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30168" y="2084831"/>
            <a:ext cx="786384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116836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22D3EE"/>
                </a:solidFill>
                <a:latin typeface="Aptos"/>
              </a:rPr>
              <a:t>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606040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Enterprise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3310128"/>
            <a:ext cx="219456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SSO/SAML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Fine-grained RBAC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Object storage/CDN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Audit retention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Automated backups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2392" y="5285232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600" b="1">
                <a:solidFill>
                  <a:srgbClr val="22D3EE"/>
                </a:solidFill>
                <a:latin typeface="Aptos Display"/>
              </a:rPr>
              <a:t>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1828800"/>
            <a:ext cx="2606040" cy="3977639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2084831"/>
            <a:ext cx="786384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2116836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0B981"/>
                </a:solidFill>
                <a:latin typeface="Aptos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606040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Hiring ecosystem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310128"/>
            <a:ext cx="219456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HRIS/ATS connectors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Calendar + email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Webhook/API marketplace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Multilingual interviews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Mobile candidate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5285232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600" b="1">
                <a:solidFill>
                  <a:srgbClr val="10B981"/>
                </a:solidFill>
                <a:latin typeface="Aptos Display"/>
              </a:rPr>
              <a:t>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53144" y="1828800"/>
            <a:ext cx="2606040" cy="3977639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44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54312" y="2084831"/>
            <a:ext cx="786384" cy="292608"/>
          </a:xfrm>
          <a:prstGeom prst="roundRect">
            <a:avLst/>
          </a:prstGeom>
          <a:solidFill>
            <a:srgbClr val="173A70"/>
          </a:solidFill>
          <a:ln w="12700">
            <a:solidFill>
              <a:srgbClr val="31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27464" y="2116836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Aptos"/>
              </a:rPr>
              <a:t>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4312" y="2606040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Advanced decision science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3310128"/>
            <a:ext cx="219456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Validated benchmark sets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Bias/fairness audits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Skills ontology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Talent rediscovery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00">
                <a:solidFill>
                  <a:srgbClr val="DCEAFF"/>
                </a:solidFill>
                <a:latin typeface="Aptos"/>
              </a:defRPr>
            </a:pPr>
            <a:r>
              <a:t>•  Predictive workforce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46536" y="5285232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600" b="1">
                <a:solidFill>
                  <a:srgbClr val="7C3AED"/>
                </a:solidFill>
                <a:latin typeface="Aptos Display"/>
              </a:rPr>
              <a:t>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108960" cy="3108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530352"/>
            <a:ext cx="126187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venia Indi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621792"/>
            <a:ext cx="1060704" cy="768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865376"/>
            <a:ext cx="67665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 Display"/>
              </a:rPr>
              <a:t>INVENIA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60904"/>
            <a:ext cx="89611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2D3EE"/>
                </a:solidFill>
                <a:latin typeface="Aptos Display"/>
              </a:rPr>
              <a:t>Hire with evidence. Assess with integrity. Decide with confidence.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337560"/>
            <a:ext cx="749807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DCEAFF"/>
                </a:solidFill>
                <a:latin typeface="Aptos"/>
              </a:rPr>
              <a:t>A live, full-stack recruitment platform for the next generation of enterprise hiring.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2" y="1490472"/>
            <a:ext cx="3337560" cy="3520440"/>
          </a:xfrm>
          <a:prstGeom prst="roundRect">
            <a:avLst/>
          </a:prstGeom>
          <a:solidFill>
            <a:srgbClr val="102D5E"/>
          </a:solidFill>
          <a:ln w="12700">
            <a:solidFill>
              <a:srgbClr val="295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847088"/>
            <a:ext cx="26883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EXHIBITION DEMO</a:t>
            </a:r>
          </a:p>
        </p:txBody>
      </p:sp>
      <p:sp>
        <p:nvSpPr>
          <p:cNvPr id="12" name="Oval 11"/>
          <p:cNvSpPr/>
          <p:nvPr/>
        </p:nvSpPr>
        <p:spPr>
          <a:xfrm>
            <a:off x="8430768" y="2304288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322576"/>
            <a:ext cx="31089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2331720"/>
            <a:ext cx="19476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Role-based login</a:t>
            </a:r>
          </a:p>
        </p:txBody>
      </p:sp>
      <p:sp>
        <p:nvSpPr>
          <p:cNvPr id="15" name="Oval 14"/>
          <p:cNvSpPr/>
          <p:nvPr/>
        </p:nvSpPr>
        <p:spPr>
          <a:xfrm>
            <a:off x="8430768" y="2752344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2770632"/>
            <a:ext cx="31089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2779776"/>
            <a:ext cx="19476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Smart job creation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430768" y="320040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3218688"/>
            <a:ext cx="31089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3227832"/>
            <a:ext cx="19476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Candidate job ATS</a:t>
            </a:r>
          </a:p>
        </p:txBody>
      </p:sp>
      <p:sp>
        <p:nvSpPr>
          <p:cNvPr id="21" name="Oval 20"/>
          <p:cNvSpPr/>
          <p:nvPr/>
        </p:nvSpPr>
        <p:spPr>
          <a:xfrm>
            <a:off x="8430768" y="364845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3666744"/>
            <a:ext cx="31089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3675887"/>
            <a:ext cx="19476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Approval-gated rounds</a:t>
            </a:r>
          </a:p>
        </p:txBody>
      </p:sp>
      <p:sp>
        <p:nvSpPr>
          <p:cNvPr id="24" name="Oval 23"/>
          <p:cNvSpPr/>
          <p:nvPr/>
        </p:nvSpPr>
        <p:spPr>
          <a:xfrm>
            <a:off x="8430768" y="4096512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4114800"/>
            <a:ext cx="31089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4123944"/>
            <a:ext cx="19476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Recruiter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572000"/>
            <a:ext cx="23317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  <a:hlinkClick r:id="rId3"/>
              </a:rPr>
              <a:t>OPEN LIVE 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00600"/>
            <a:ext cx="3200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5330952"/>
            <a:ext cx="4297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FC8EF"/>
                </a:solidFill>
                <a:latin typeface="Aptos"/>
              </a:rPr>
              <a:t>Questions and product walkthrough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28232"/>
            <a:ext cx="11265408" cy="0"/>
          </a:xfrm>
          <a:prstGeom prst="line">
            <a:avLst/>
          </a:prstGeom>
          <a:ln w="10160">
            <a:solidFill>
              <a:srgbClr val="2448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75488" y="6473952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FC8EF"/>
                </a:solidFill>
                <a:latin typeface="Aptos"/>
              </a:rPr>
              <a:t>INVENIA AI  |  Intelligent Recruitment and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56848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AFC8EF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Invenia AI - Commercial Technology Exhibition Deck</dc:title>
  <dc:subject>AI-powered recruitment, assessment, interview, and analytics platform</dc:subject>
  <dc:creator>Invenia AI</dc:creator>
  <cp:keywords/>
  <dc:description>Generated from the implemented Invenia AI product architecture and live Railway deployment.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